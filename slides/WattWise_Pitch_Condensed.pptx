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76200">
            <a:solidFill>
              <a:srgbClr val="E820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  |  Code4Mzansi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</a:t>
            </a:r>
            <a:pPr indent="0" marL="0">
              <a:buNone/>
            </a:pPr>
            <a:r>
              <a:rPr lang="en-US" sz="8800" b="1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88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5669280" cy="548640"/>
          </a:xfrm>
          <a:prstGeom prst="rect">
            <a:avLst/>
          </a:prstGeom>
          <a:solidFill>
            <a:srgbClr val="E8202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063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GATEWAY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metering, monitoring &amp; energy-data analytics for South African households, SMMEs and municipalities.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242424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98348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8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G13 challenge: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inefficiencies — one of the grid issues holding back South African homes, businesses and the economy.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5iveinfinite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Inefficiency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estimate-based billing gives no real-time view of how power is used — causing waste, bill shock and deepening energy poverty, while municipalities and Eskom forecast demand almost blind and cover the gap with emergency diesel.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3419856" cy="3108960"/>
          </a:xfrm>
          <a:prstGeom prst="roundRect">
            <a:avLst>
              <a:gd name="adj" fmla="val 2353"/>
            </a:avLst>
          </a:prstGeom>
          <a:solidFill>
            <a:srgbClr val="24242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383280"/>
            <a:ext cx="2962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 households are energy-poor — the poorest spend 27% of income on electricity.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4256" y="3063240"/>
            <a:ext cx="3419856" cy="3108960"/>
          </a:xfrm>
          <a:prstGeom prst="roundRect">
            <a:avLst>
              <a:gd name="adj" fmla="val 2353"/>
            </a:avLst>
          </a:prstGeom>
          <a:solidFill>
            <a:srgbClr val="242424"/>
          </a:solidFill>
          <a:ln/>
        </p:spPr>
      </p:sp>
      <p:sp>
        <p:nvSpPr>
          <p:cNvPr id="9" name="Text 7"/>
          <p:cNvSpPr/>
          <p:nvPr/>
        </p:nvSpPr>
        <p:spPr>
          <a:xfrm>
            <a:off x="4562856" y="3383280"/>
            <a:ext cx="2962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62856" y="452628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household bill is the geyser alone — the single biggest controllable load.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6992" y="3063240"/>
            <a:ext cx="3419856" cy="3108960"/>
          </a:xfrm>
          <a:prstGeom prst="roundRect">
            <a:avLst>
              <a:gd name="adj" fmla="val 2353"/>
            </a:avLst>
          </a:prstGeom>
          <a:solidFill>
            <a:srgbClr val="242424"/>
          </a:solidFill>
          <a:ln/>
        </p:spPr>
      </p:sp>
      <p:sp>
        <p:nvSpPr>
          <p:cNvPr id="12" name="Text 10"/>
          <p:cNvSpPr/>
          <p:nvPr/>
        </p:nvSpPr>
        <p:spPr>
          <a:xfrm>
            <a:off x="8165592" y="3383280"/>
            <a:ext cx="2962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R21.4bn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165592" y="4526280"/>
            <a:ext cx="29626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Eskom on diesel turbines in one year (FY2023) to cover peak demand.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WattWise Energy Gateway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WattWise streams and analyses granular, per-household consumption data so homes cut waste, utilities forecast and procure energy accurately, and the grid runs on insight — not guesswork.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24242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33558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31729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existing smart meters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361188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 — ingests current smart-meter / AMI feeds.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297180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242424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33558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3355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0" y="31729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consumption analytics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361188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disaggregation surfaces geyser, standby and anomaly waste.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24242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9103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10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91640" y="47274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role-based portals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516636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 Municipality and Field Technician — each sees what they need.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72200" y="4526280"/>
            <a:ext cx="5257800" cy="1325880"/>
          </a:xfrm>
          <a:prstGeom prst="roundRect">
            <a:avLst>
              <a:gd name="adj" fmla="val 4828"/>
            </a:avLst>
          </a:prstGeom>
          <a:solidFill>
            <a:srgbClr val="24242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9103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910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32320" y="472744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USSD channel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516636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*130# reaches energy-poor homes with no data or smartphone.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IMPACTS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1417320"/>
          </a:xfrm>
          <a:prstGeom prst="roundRect">
            <a:avLst>
              <a:gd name="adj" fmla="val 4516"/>
            </a:avLst>
          </a:prstGeom>
          <a:solidFill>
            <a:srgbClr val="24242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2834640" cy="1417320"/>
          </a:xfrm>
          <a:prstGeom prst="rect">
            <a:avLst/>
          </a:prstGeom>
          <a:solidFill>
            <a:srgbClr val="E820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Consumers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201168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~47% of energy-poor SA homes plus everyday grid-connected families. They see and cut waste in real time — online via the consumer dashboard or offline over USSD *130#. Directly targets the 40–50% geyser and 15% standby loads driving their bills.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56432"/>
            <a:ext cx="10698480" cy="1417320"/>
          </a:xfrm>
          <a:prstGeom prst="roundRect">
            <a:avLst>
              <a:gd name="adj" fmla="val 4516"/>
            </a:avLst>
          </a:prstGeom>
          <a:solidFill>
            <a:srgbClr val="24242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456432"/>
            <a:ext cx="2834640" cy="1417320"/>
          </a:xfrm>
          <a:prstGeom prst="rect">
            <a:avLst/>
          </a:prstGeom>
          <a:solidFill>
            <a:srgbClr val="E8202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564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3593592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medium &amp; micro enterprises — spaza shops, salons, workshops, light manufacturers — where electricity is a major operating cost. Granular load visibility helps owners cut waste, avoid bill shock and stay open through load-shedding with accurate balance and outage alerts.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038344"/>
            <a:ext cx="10698480" cy="1417320"/>
          </a:xfrm>
          <a:prstGeom prst="roundRect">
            <a:avLst>
              <a:gd name="adj" fmla="val 4516"/>
            </a:avLst>
          </a:prstGeom>
          <a:solidFill>
            <a:srgbClr val="242424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5038344"/>
            <a:ext cx="2834640" cy="1417320"/>
          </a:xfrm>
          <a:prstGeom prst="rect">
            <a:avLst/>
          </a:prstGeom>
          <a:solidFill>
            <a:srgbClr val="E8202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38344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Municipalities &amp; Eskom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5175504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forecast, procure, protect and maintain on evidence, not estimates: bottom-up demand forecasting shaves the peak diesel exists to cover, predictive maintenance spots failing transformers, and feeder-vs-household mismatches flag cable theft and illegal connections in near-real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Money. Powering Government Foresight.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turns wasted rands into savings for every user — and turns millions of household signals into the predictive intelligence government has never had.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419856" cy="1691640"/>
          </a:xfrm>
          <a:prstGeom prst="roundRect">
            <a:avLst>
              <a:gd name="adj" fmla="val 4324"/>
            </a:avLst>
          </a:prstGeom>
          <a:solidFill>
            <a:srgbClr val="242424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8072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807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630168"/>
            <a:ext cx="29626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40–50% geyser &amp; 15% standby waste in real time — money back in the pockets of homes that spend up to 27% of income on power.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4256" y="2606040"/>
            <a:ext cx="3419856" cy="1691640"/>
          </a:xfrm>
          <a:prstGeom prst="roundRect">
            <a:avLst>
              <a:gd name="adj" fmla="val 4324"/>
            </a:avLst>
          </a:prstGeom>
          <a:solidFill>
            <a:srgbClr val="242424"/>
          </a:solidFill>
          <a:ln/>
        </p:spPr>
      </p:sp>
      <p:sp>
        <p:nvSpPr>
          <p:cNvPr id="11" name="Shape 9"/>
          <p:cNvSpPr/>
          <p:nvPr/>
        </p:nvSpPr>
        <p:spPr>
          <a:xfrm>
            <a:off x="4562856" y="28072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2807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2856" y="32461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2856" y="3630168"/>
            <a:ext cx="29626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 major operating cost: trim waste, dodge bill shock and keep trading through outages with live balance and load-shedding alerts.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36992" y="2606040"/>
            <a:ext cx="3419856" cy="1691640"/>
          </a:xfrm>
          <a:prstGeom prst="roundRect">
            <a:avLst>
              <a:gd name="adj" fmla="val 4324"/>
            </a:avLst>
          </a:prstGeom>
          <a:solidFill>
            <a:srgbClr val="242424"/>
          </a:solidFill>
          <a:ln/>
        </p:spPr>
      </p:sp>
      <p:sp>
        <p:nvSpPr>
          <p:cNvPr id="16" name="Shape 14"/>
          <p:cNvSpPr/>
          <p:nvPr/>
        </p:nvSpPr>
        <p:spPr>
          <a:xfrm>
            <a:off x="8165592" y="28072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8202A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28072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65592" y="324612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Municipalities &amp; Eskom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65592" y="3630168"/>
            <a:ext cx="296265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Shave the peak that burned R21.4bn in diesel in one year, recover revenue lost to cable theft, and bill on data instead of estimates.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698480" cy="1783080"/>
          </a:xfrm>
          <a:prstGeom prst="roundRect">
            <a:avLst>
              <a:gd name="adj" fmla="val 4103"/>
            </a:avLst>
          </a:prstGeom>
          <a:solidFill>
            <a:srgbClr val="E8202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681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FOR GOVERNMENT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120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demand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46811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forecasts from real household load shapes — see peaks before they arrive and procure energy ahead, not in panic.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5120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546811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failing transformers in the data before they fail — fewer outages, lower repair and diesel costs.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38160" y="5120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grid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546811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Feeder-vs-household mismatches flag cable theft and illegal connections in near-real time — crews dispatched before the area goes dark.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UNIQUE SELLING POINT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Every South African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64208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home energy management systems run on their own proprietary hardware and service networks — and simply don't reach every area in South Africa. WattWise rides on infrastructure that already exists in homes nationwide.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24242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3474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proprietary meters &amp; hardware to 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37673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service network — limited geographic reach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059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40599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gaps leave many SA areas uncovered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352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352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/ data assumed — excludes millions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743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820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971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WattWise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3474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existing smart meters — no new hardware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767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37673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meters &amp; networks already deployed across 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059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40599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 rollout — works wherever meters exist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352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4352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*130# reaches homes with no data or smartphone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24242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9377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E8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all. 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building on existing meters and USSD instead of new infrastructure, WattWise can reach the whole population — including the ~47% of energy-poor households with no smartphone or data — not just the affluent suburbs other systems can service.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76200">
            <a:solidFill>
              <a:srgbClr val="E820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</a:t>
            </a:r>
            <a:pPr algn="ctr" indent="0" marL="0">
              <a:buNone/>
            </a:pPr>
            <a:r>
              <a:rPr lang="en-US" sz="8000" b="1" dirty="0">
                <a:solidFill>
                  <a:srgbClr val="E8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Wise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3566160" y="3429000"/>
            <a:ext cx="5029200" cy="548640"/>
          </a:xfrm>
          <a:prstGeom prst="rect">
            <a:avLst/>
          </a:prstGeom>
          <a:solidFill>
            <a:srgbClr val="E8202A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3429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GATEWAY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Tackling G13 electricity inefficiency for households, SMMEs and municipalities.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 ·   Team: 5iveinfinite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2026-06-19T02:53:10Z</dcterms:created>
  <dcterms:modified xsi:type="dcterms:W3CDTF">2026-06-19T02:53:10Z</dcterms:modified>
</cp:coreProperties>
</file>